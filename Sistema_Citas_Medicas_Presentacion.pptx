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Play"/>
      <p:regular r:id="rId16"/>
      <p:bold r:id="rId17"/>
    </p:embeddedFont>
    <p:embeddedFont>
      <p:font typeface="Lato Black"/>
    </p:embeddedFont>
    <p:embeddedFont>
      <p:font typeface="Roboto Black"/>
    </p:embeddedFont>
    <p:embeddedFont>
      <p:font typeface="Lucida San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font" Target="fonts/Font_1_Roboto_Regular.fntdata"/><Relationship Id="rId13" Type="http://schemas.openxmlformats.org/officeDocument/2006/relationships/font" Target="fonts/Font_2_Roboto_Bold.fntdata"/><Relationship Id="rId14" Type="http://schemas.openxmlformats.org/officeDocument/2006/relationships/font" Target="fonts/Font_3_Roboto_Italic.fntdata"/><Relationship Id="rId15" Type="http://schemas.openxmlformats.org/officeDocument/2006/relationships/font" Target="fonts/Font_4_Roboto_BoldItalic.fntdata"/><Relationship Id="rId16" Type="http://schemas.openxmlformats.org/officeDocument/2006/relationships/font" Target="fonts/Font_5_Play_Regular.fntdata"/><Relationship Id="rId17" Type="http://schemas.openxmlformats.org/officeDocument/2006/relationships/font" Target="fonts/Font_6_Play_Bold.fntdata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s-CO" sz="6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CO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CO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94EF295-8329-4A16-8235-87C137D53ED8}" type="slidenum">
              <a: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>
            <a:lvl1pPr indent="0" algn="l">
              <a:buNone/>
              <a:def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CO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8571478-55CF-45E3-8E86-91B904D05976}" type="slidenum">
              <a: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7133400" y="1956240"/>
            <a:ext cx="5811480" cy="262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CO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A484EE8-E7D5-423D-AC68-5039A0F1ADB7}" type="slidenum">
              <a: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>
            <a:lvl1pPr indent="0" algn="l">
              <a:buNone/>
              <a:def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CO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B486255-7A6A-4DA1-8F63-B1666F49118D}" type="slidenum">
              <a: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s-CO" sz="6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CO" sz="6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CO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9CF3F7B-1169-49EF-9429-07342DC3B447}" type="slidenum">
              <a: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>
            <a:lvl1pPr indent="0" algn="l">
              <a:buNone/>
              <a:def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CO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73FFE1-3406-4878-9521-39C95776BFB9}" type="slidenum">
              <a: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>
            <a:lvl1pPr indent="0" algn="l">
              <a:buNone/>
              <a:def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CO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6A6927B-5865-4DF6-AE94-D95C7A615D85}" type="slidenum">
              <a: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lstStyle>
            <a:lvl1pPr indent="0" algn="l">
              <a:buNone/>
              <a:def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CO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CO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851911D-C528-45A4-9ADA-B622E5992BF3}" type="slidenum">
              <a: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8B65232-8E75-408D-B357-7FEFC26B9A8A}" type="slidenum">
              <a: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E63B3DB-1205-4824-9EDE-5D2EF7CACA09}" type="slidenum">
              <a: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9FD0CD2-6BEB-42CE-A4C4-78AB729737ED}" type="slidenum">
              <a:rPr lang="es-CO" sz="1200" b="0" u="none" strike="noStrike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>
              <a:buNone/>
            </a:pPr>
            <a:endParaRPr lang="es-CO" sz="6000" b="0" u="none" strike="noStrike">
              <a:solidFill>
                <a:schemeClr val="dk1"/>
              </a:solidFill>
              <a:effectLst/>
              <a:uFillTx/>
              <a:latin typeface="Play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>
              <a:buNone/>
            </a:pPr>
            <a:endParaRPr lang="es-CO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62" name="Google Shape;86;p1" descr="Imagen de la pantalla de un celular con letras"/>
          <p:cNvPicPr/>
          <p:nvPr/>
        </p:nvPicPr>
        <p:blipFill>
          <a:blip r:embed="rId1"/>
          <a:stretch/>
        </p:blipFill>
        <p:spPr>
          <a:xfrm>
            <a:off x="0" y="0"/>
            <a:ext cx="12191760" cy="68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Google Shape;87;p1"/>
          <p:cNvSpPr/>
          <p:nvPr/>
        </p:nvSpPr>
        <p:spPr>
          <a:xfrm>
            <a:off x="5233320" y="4280400"/>
            <a:ext cx="7148880" cy="7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CO" sz="4000" b="1" u="none" strike="noStrike">
                <a:solidFill>
                  <a:schemeClr val="lt1"/>
                </a:solidFill>
                <a:effectLst/>
                <a:uFillTx/>
                <a:latin typeface="Arial"/>
                <a:ea typeface="Roboto"/>
              </a:rPr>
              <a:t>Sistema de Citas Médicas</a:t>
            </a:r>
            <a:endParaRPr lang="es-CO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92;p2" descr="Texto&#10;&#10;Descripción generada automáticamente"/>
          <p:cNvPicPr/>
          <p:nvPr/>
        </p:nvPicPr>
        <p:blipFill>
          <a:blip r:embed="rId1"/>
          <a:srcRect l="0" t="24101" r="10853" b="22778"/>
          <a:stretch/>
        </p:blipFill>
        <p:spPr>
          <a:xfrm>
            <a:off x="10034640" y="191880"/>
            <a:ext cx="1985040" cy="37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Google Shape;93;p2"/>
          <p:cNvSpPr/>
          <p:nvPr/>
        </p:nvSpPr>
        <p:spPr>
          <a:xfrm>
            <a:off x="4938120" y="3701880"/>
            <a:ext cx="2261880" cy="11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b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CO" sz="1600" b="0" u="none" strike="noStrike">
                <a:solidFill>
                  <a:srgbClr val="003970"/>
                </a:solidFill>
                <a:effectLst/>
                <a:uFillTx/>
                <a:latin typeface="Arial"/>
                <a:ea typeface="Roboto Black"/>
              </a:rPr>
              <a:t>Luisa Cárdenas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CO" sz="1600" b="0" u="none" strike="noStrike">
                <a:solidFill>
                  <a:srgbClr val="000000"/>
                </a:solidFill>
                <a:effectLst/>
                <a:uFillTx/>
                <a:latin typeface="Lato Black"/>
                <a:ea typeface="Lato Black"/>
              </a:rPr>
              <a:t>Desarrolladora 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CO" sz="1600" b="0" u="none" strike="noStrike">
                <a:solidFill>
                  <a:srgbClr val="000000"/>
                </a:solidFill>
                <a:effectLst/>
                <a:uFillTx/>
                <a:latin typeface="Lato Black"/>
                <a:ea typeface="Lato Black"/>
              </a:rPr>
              <a:t>Full Stack</a:t>
            </a: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CO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94;p2"/>
          <p:cNvSpPr/>
          <p:nvPr/>
        </p:nvSpPr>
        <p:spPr>
          <a:xfrm>
            <a:off x="5298120" y="2160000"/>
            <a:ext cx="1422720" cy="142272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alpha val="87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103;p3" descr="Forma, Rectángulo&#10;&#10;Descripción generada automáticamente"/>
          <p:cNvPicPr/>
          <p:nvPr/>
        </p:nvPicPr>
        <p:blipFill>
          <a:blip r:embed="rId1"/>
          <a:stretch/>
        </p:blipFill>
        <p:spPr>
          <a:xfrm>
            <a:off x="-216360" y="-105480"/>
            <a:ext cx="12408120" cy="694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Google Shape;104;p3" descr="Texto&#10;&#10;Descripción generada automáticamente"/>
          <p:cNvPicPr/>
          <p:nvPr/>
        </p:nvPicPr>
        <p:blipFill>
          <a:blip r:embed="rId2"/>
          <a:srcRect l="5565" t="23091" r="12015" b="19037"/>
          <a:stretch/>
        </p:blipFill>
        <p:spPr>
          <a:xfrm>
            <a:off x="9453240" y="423360"/>
            <a:ext cx="2118600" cy="47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Google Shape;105;p3" descr="Imagen que contiene Forma&#10;&#10;Descripción generada automáticamente"/>
          <p:cNvPicPr/>
          <p:nvPr/>
        </p:nvPicPr>
        <p:blipFill>
          <a:blip r:embed="rId3"/>
          <a:stretch/>
        </p:blipFill>
        <p:spPr>
          <a:xfrm>
            <a:off x="-418680" y="-275400"/>
            <a:ext cx="8264520" cy="74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Google Shape;106;p3"/>
          <p:cNvSpPr/>
          <p:nvPr/>
        </p:nvSpPr>
        <p:spPr>
          <a:xfrm>
            <a:off x="8063280" y="5148360"/>
            <a:ext cx="3579120" cy="95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CO" sz="28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Necesidad del proyecto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111;p4" descr="Texto&#10;&#10;Descripción generada automáticamente"/>
          <p:cNvPicPr/>
          <p:nvPr/>
        </p:nvPicPr>
        <p:blipFill>
          <a:blip r:embed="rId1"/>
          <a:srcRect l="0" t="24101" r="10853" b="22778"/>
          <a:stretch/>
        </p:blipFill>
        <p:spPr>
          <a:xfrm>
            <a:off x="9878400" y="249480"/>
            <a:ext cx="2189160" cy="41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Google Shape;112;p4"/>
          <p:cNvSpPr/>
          <p:nvPr/>
        </p:nvSpPr>
        <p:spPr>
          <a:xfrm>
            <a:off x="0" y="0"/>
            <a:ext cx="9893880" cy="855360"/>
          </a:xfrm>
          <a:prstGeom prst="round1Rect">
            <a:avLst>
              <a:gd name="adj" fmla="val 50000"/>
            </a:avLst>
          </a:prstGeom>
          <a:solidFill>
            <a:srgbClr val="0039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113;p4"/>
          <p:cNvSpPr/>
          <p:nvPr/>
        </p:nvSpPr>
        <p:spPr>
          <a:xfrm>
            <a:off x="222840" y="181080"/>
            <a:ext cx="890892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O" sz="3000" b="0" u="none" strike="noStrike">
                <a:solidFill>
                  <a:schemeClr val="lt1"/>
                </a:solidFill>
                <a:effectLst/>
                <a:uFillTx/>
                <a:latin typeface="Arial"/>
                <a:ea typeface="Roboto"/>
              </a:rPr>
              <a:t>¿Cuál es la necesidad que resuelve tu proyecto?</a:t>
            </a:r>
            <a:endParaRPr lang="es-CO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subTitle"/>
          </p:nvPr>
        </p:nvSpPr>
        <p:spPr>
          <a:xfrm>
            <a:off x="1568880" y="234684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Roboto"/>
              </a:rPr>
              <a:t>En el sector salud colombiano, la gestión de citas médicas sigue siendo un proceso mayoritariamente manual, lo que genera tiempos de espera prolongados, pérdida de información clínica y dificultades para administrar los cupos disponibles de los médicos. Los pacientes frecuentemente enfrentan problemas al intentar agendar citas, no reciben recordatorios oportunos y no tienen acceso centralizado a su historial de consultas. Por su parte, los médicos carecen de herramientas eficientes para organizar su agenda diaria y disponer de información actualizada de sus pacientes antes de cada consulta.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alpha val="87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119;g30bd9f5c00e_0_8" descr="Forma, Rectángulo&#10;&#10;Descripción generada automáticamente"/>
          <p:cNvPicPr/>
          <p:nvPr/>
        </p:nvPicPr>
        <p:blipFill>
          <a:blip r:embed="rId1"/>
          <a:stretch/>
        </p:blipFill>
        <p:spPr>
          <a:xfrm>
            <a:off x="-216360" y="-105480"/>
            <a:ext cx="12408120" cy="694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120;g30bd9f5c00e_0_8" descr="Texto&#10;&#10;Descripción generada automáticamente"/>
          <p:cNvPicPr/>
          <p:nvPr/>
        </p:nvPicPr>
        <p:blipFill>
          <a:blip r:embed="rId2"/>
          <a:srcRect l="5561" t="23101" r="12015" b="19037"/>
          <a:stretch/>
        </p:blipFill>
        <p:spPr>
          <a:xfrm>
            <a:off x="9453240" y="423360"/>
            <a:ext cx="2118600" cy="47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Google Shape;121;g30bd9f5c00e_0_8" descr="Imagen que contiene Forma&#10;&#10;Descripción generada automáticamente"/>
          <p:cNvPicPr/>
          <p:nvPr/>
        </p:nvPicPr>
        <p:blipFill>
          <a:blip r:embed="rId3"/>
          <a:stretch/>
        </p:blipFill>
        <p:spPr>
          <a:xfrm>
            <a:off x="-418680" y="-275400"/>
            <a:ext cx="8264520" cy="74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Google Shape;122;g30bd9f5c00e_0_8"/>
          <p:cNvSpPr/>
          <p:nvPr/>
        </p:nvSpPr>
        <p:spPr>
          <a:xfrm>
            <a:off x="8063280" y="5148360"/>
            <a:ext cx="3579120" cy="95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CO" sz="28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Objetivo del </a:t>
            </a:r>
            <a:br>
              <a:rPr sz="2800"/>
            </a:br>
            <a:r>
              <a:rPr lang="es-CO" sz="28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proyecto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127;p5" descr="Texto&#10;&#10;Descripción generada automáticamente"/>
          <p:cNvPicPr/>
          <p:nvPr/>
        </p:nvPicPr>
        <p:blipFill>
          <a:blip r:embed="rId1"/>
          <a:srcRect l="0" t="24101" r="10853" b="22778"/>
          <a:stretch/>
        </p:blipFill>
        <p:spPr>
          <a:xfrm>
            <a:off x="300240" y="231120"/>
            <a:ext cx="2189160" cy="41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subTitle"/>
          </p:nvPr>
        </p:nvSpPr>
        <p:spPr>
          <a:xfrm>
            <a:off x="1568880" y="234684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Roboto"/>
              </a:rPr>
              <a:t>Desarrollar una aplicación web tipo SPA (Single Page Application) que permita la gestión integral de citas médicas, conectando pacientes, médicos y administradores en una plataforma unificada. El sistema busca automatizar el proceso de agendamiento, asignación y seguimiento de citas médicas, mejorando la experiencia del paciente y la eficiencia operativa de los centros de salud. Los objetivos específicos incluyen: registro seguro de usuarios con autenticación JWT, gestión de pacientes y médicos, creación automática de cupos diarios por médico, asignación de citas en tiempo real, y filtrado inteligente de información según el rol del usuario.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29;p5"/>
          <p:cNvSpPr/>
          <p:nvPr/>
        </p:nvSpPr>
        <p:spPr>
          <a:xfrm>
            <a:off x="2707920" y="0"/>
            <a:ext cx="9940680" cy="8787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0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30;p5"/>
          <p:cNvSpPr/>
          <p:nvPr/>
        </p:nvSpPr>
        <p:spPr>
          <a:xfrm>
            <a:off x="3056040" y="162720"/>
            <a:ext cx="890892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O" sz="3000" b="0" u="none" strike="noStrike">
                <a:solidFill>
                  <a:schemeClr val="lt1"/>
                </a:solidFill>
                <a:effectLst/>
                <a:uFillTx/>
                <a:latin typeface="Arial"/>
                <a:ea typeface="Roboto"/>
              </a:rPr>
              <a:t>¿Cuál es el objetivo de tu proyecto?</a:t>
            </a:r>
            <a:endParaRPr lang="es-CO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alpha val="87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135;g30bd9f5c00e_0_15" descr="Forma, Rectángulo&#10;&#10;Descripción generada automáticamente"/>
          <p:cNvPicPr/>
          <p:nvPr/>
        </p:nvPicPr>
        <p:blipFill>
          <a:blip r:embed="rId1"/>
          <a:stretch/>
        </p:blipFill>
        <p:spPr>
          <a:xfrm>
            <a:off x="-216360" y="-105480"/>
            <a:ext cx="12408120" cy="694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Google Shape;136;g30bd9f5c00e_0_15" descr="Texto&#10;&#10;Descripción generada automáticamente"/>
          <p:cNvPicPr/>
          <p:nvPr/>
        </p:nvPicPr>
        <p:blipFill>
          <a:blip r:embed="rId2"/>
          <a:srcRect l="5561" t="23101" r="12015" b="19037"/>
          <a:stretch/>
        </p:blipFill>
        <p:spPr>
          <a:xfrm>
            <a:off x="9453240" y="423360"/>
            <a:ext cx="2118600" cy="47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Google Shape;137;g30bd9f5c00e_0_15" descr="Imagen que contiene Forma&#10;&#10;Descripción generada automáticamente"/>
          <p:cNvPicPr/>
          <p:nvPr/>
        </p:nvPicPr>
        <p:blipFill>
          <a:blip r:embed="rId3"/>
          <a:stretch/>
        </p:blipFill>
        <p:spPr>
          <a:xfrm>
            <a:off x="-418680" y="-275400"/>
            <a:ext cx="8264520" cy="74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Google Shape;138;g30bd9f5c00e_0_15"/>
          <p:cNvSpPr/>
          <p:nvPr/>
        </p:nvSpPr>
        <p:spPr>
          <a:xfrm>
            <a:off x="8063280" y="5148360"/>
            <a:ext cx="3579120" cy="95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CO" sz="28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Resumen del proyecto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143;g30bd9f5c00e_0_32" descr="Texto&#10;&#10;Descripción generada automáticamente"/>
          <p:cNvPicPr/>
          <p:nvPr/>
        </p:nvPicPr>
        <p:blipFill>
          <a:blip r:embed="rId1"/>
          <a:srcRect l="0" t="24101" r="10857" b="22768"/>
          <a:stretch/>
        </p:blipFill>
        <p:spPr>
          <a:xfrm>
            <a:off x="300240" y="231120"/>
            <a:ext cx="2189160" cy="41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subTitle"/>
          </p:nvPr>
        </p:nvSpPr>
        <p:spPr>
          <a:xfrm>
            <a:off x="1568880" y="234684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El Sistema de Citas Médicas es una aplicación web desarrollada con Angular 22 en el frontend y Node.js con Express en el backend, utilizando MongoDB como base de datos NoSQL y JWT para la autenticación segura. La plataforma permite el registro de usuarios con diferentes roles (administrador, médico y paciente), gestión de pacientes con datos clínicos, registro de médicos con su número de registro profesional, y un sistema completo de citas médicas con 10 cupos diarios predefinidos por médico (de 8:00 AM a 6:00 PM). El sistema automatiza la creación de usuarios y sus perfiles asociados, filtra las citas según el rol del usuario y ofrece una interfaz responsiva con Bootstrap 5. La relación entre usuarios y pacientes se establece mediante el correo electrónico, garantizando la integridad referencial entre las colecciones de la base de datos.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45;g30bd9f5c00e_0_32"/>
          <p:cNvSpPr/>
          <p:nvPr/>
        </p:nvSpPr>
        <p:spPr>
          <a:xfrm>
            <a:off x="2707920" y="0"/>
            <a:ext cx="9940680" cy="8791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0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es-CO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46;g30bd9f5c00e_0_32"/>
          <p:cNvSpPr/>
          <p:nvPr/>
        </p:nvSpPr>
        <p:spPr>
          <a:xfrm>
            <a:off x="3282840" y="231120"/>
            <a:ext cx="890892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O" sz="3000" b="0" u="none" strike="noStrike">
                <a:solidFill>
                  <a:schemeClr val="lt1"/>
                </a:solidFill>
                <a:effectLst/>
                <a:uFillTx/>
                <a:latin typeface="Arial"/>
                <a:ea typeface="Roboto"/>
              </a:rPr>
              <a:t>Resume tu proyecto en un párrafo</a:t>
            </a:r>
            <a:endParaRPr lang="es-CO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970">
            <a:alpha val="87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151;p8" descr="Texto&#10;&#10;Descripción generada automáticamente"/>
          <p:cNvPicPr/>
          <p:nvPr/>
        </p:nvPicPr>
        <p:blipFill>
          <a:blip r:embed="rId1"/>
          <a:stretch/>
        </p:blipFill>
        <p:spPr>
          <a:xfrm>
            <a:off x="-2008080" y="-669240"/>
            <a:ext cx="9511200" cy="867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Google Shape;152;p8" descr="Texto&#10;&#10;Descripción generada automáticamente"/>
          <p:cNvPicPr/>
          <p:nvPr/>
        </p:nvPicPr>
        <p:blipFill>
          <a:blip r:embed="rId2"/>
          <a:srcRect l="5565" t="23091" r="12015" b="19037"/>
          <a:stretch/>
        </p:blipFill>
        <p:spPr>
          <a:xfrm>
            <a:off x="9336240" y="341280"/>
            <a:ext cx="21186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Google Shape;153;p8"/>
          <p:cNvSpPr/>
          <p:nvPr/>
        </p:nvSpPr>
        <p:spPr>
          <a:xfrm>
            <a:off x="7610040" y="3785400"/>
            <a:ext cx="240012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CO" sz="44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¡Gracias!</a:t>
            </a:r>
            <a:endParaRPr lang="es-CO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2024-04-15T14:10:32Z</dcterms:created>
  <dc:creator>MAYRA ALEJANDRA VILLAMIZAR LEYTON</dc:creator>
  <dc:description/>
  <dc:language>es-CO</dc:language>
  <cp:lastModifiedBy/>
  <dcterms:modified xsi:type="dcterms:W3CDTF">2026-07-27T18:07:55Z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0x010100842FFE411033D14589855D324D25A254</vt:lpwstr>
  </property>
</Properties>
</file>